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5" r:id="rId3"/>
    <p:sldId id="259" r:id="rId4"/>
    <p:sldId id="260" r:id="rId5"/>
    <p:sldId id="262"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5A84B1-A4C3-954B-B5B0-E2C8D0690BAE}" v="143" dt="2026-02-24T01:42:25.029"/>
    <p1510:client id="{4DC65DA6-7A81-AA05-820C-CAC9AFF3ED42}" v="16" dt="2026-02-24T17:52:27.621"/>
    <p1510:client id="{62AE0688-7795-61A5-16DE-ADE2B30F99DF}" v="59" dt="2026-02-24T18:01:11.335"/>
    <p1510:client id="{62E02227-5A14-BAAE-1EEF-15E3134A46DC}" v="23" dt="2026-02-24T17:57:32.171"/>
    <p1510:client id="{6D81D663-6C11-C191-0B78-0590BF817F9E}" v="6" dt="2026-02-24T05:27:25.386"/>
    <p1510:client id="{81126737-F22C-5B2A-9887-2C87A9D46484}" v="5" dt="2026-02-23T18:28:30.734"/>
    <p1510:client id="{D8E7CFDE-9CA3-B46C-CAF0-35A7B741D814}" v="211" dt="2026-02-23T18:26:15.960"/>
    <p1510:client id="{ECE7C6ED-E31C-40C0-B5AB-7D68B8AC4D1C}" v="176" dt="2026-02-23T18:26:21.0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2/24/2026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5967637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2/24/2026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873266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2/24/2026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403064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2/24/2026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791778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2/24/2026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340157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2/24/2026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71796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2/24/2026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013988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2/24/2026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822209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2/24/2026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760001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2/24/2026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11782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2/24/2026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741842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2/24/2026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30284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Persona and Mood Board</a:t>
            </a:r>
            <a:br>
              <a:rPr lang="en-US"/>
            </a:br>
            <a:br>
              <a:rPr lang="en-US"/>
            </a:br>
            <a:r>
              <a:rPr lang="en-US"/>
              <a:t>Team Azure</a:t>
            </a:r>
          </a:p>
        </p:txBody>
      </p:sp>
      <p:sp>
        <p:nvSpPr>
          <p:cNvPr id="3" name="Subtitle 2"/>
          <p:cNvSpPr>
            <a:spLocks noGrp="1"/>
          </p:cNvSpPr>
          <p:nvPr>
            <p:ph type="subTitle" idx="1"/>
          </p:nvPr>
        </p:nvSpPr>
        <p:spPr/>
        <p:txBody>
          <a:bodyPr vert="horz" lIns="91440" tIns="45720" rIns="91440" bIns="45720" rtlCol="0" anchor="t">
            <a:normAutofit/>
          </a:bodyPr>
          <a:lstStyle/>
          <a:p>
            <a:r>
              <a:rPr lang="en-US"/>
              <a:t>By Sangam, Yohanna, and Damien</a:t>
            </a:r>
          </a:p>
          <a:p>
            <a:r>
              <a:rPr lang="en-US"/>
              <a:t>Professor Andy Cameron – CSC 3220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DD7D7"/>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3EF92425-80E0-7DF9-E2BD-DD8E06C4B311}"/>
              </a:ext>
            </a:extLst>
          </p:cNvPr>
          <p:cNvGrpSpPr/>
          <p:nvPr/>
        </p:nvGrpSpPr>
        <p:grpSpPr>
          <a:xfrm>
            <a:off x="2894006" y="102294"/>
            <a:ext cx="9134266" cy="6655436"/>
            <a:chOff x="1745789" y="384132"/>
            <a:chExt cx="8330510" cy="6310817"/>
          </a:xfrm>
        </p:grpSpPr>
        <p:sp>
          <p:nvSpPr>
            <p:cNvPr id="2" name="Freeform 2"/>
            <p:cNvSpPr/>
            <p:nvPr/>
          </p:nvSpPr>
          <p:spPr>
            <a:xfrm>
              <a:off x="1811087" y="4772257"/>
              <a:ext cx="2764249" cy="1919897"/>
            </a:xfrm>
            <a:custGeom>
              <a:avLst/>
              <a:gdLst/>
              <a:ahLst/>
              <a:cxnLst/>
              <a:rect l="l" t="t" r="r" b="b"/>
              <a:pathLst>
                <a:path w="2948532" h="2047890">
                  <a:moveTo>
                    <a:pt x="0" y="0"/>
                  </a:moveTo>
                  <a:lnTo>
                    <a:pt x="2948532" y="0"/>
                  </a:lnTo>
                  <a:lnTo>
                    <a:pt x="2948532" y="2047889"/>
                  </a:lnTo>
                  <a:lnTo>
                    <a:pt x="0" y="2047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719341" y="433452"/>
              <a:ext cx="5330905" cy="1489628"/>
              <a:chOff x="0" y="-9525"/>
              <a:chExt cx="2140803" cy="598210"/>
            </a:xfrm>
          </p:grpSpPr>
          <p:sp>
            <p:nvSpPr>
              <p:cNvPr id="4" name="Freeform 4"/>
              <p:cNvSpPr/>
              <p:nvPr/>
            </p:nvSpPr>
            <p:spPr>
              <a:xfrm>
                <a:off x="0" y="0"/>
                <a:ext cx="2140803" cy="588685"/>
              </a:xfrm>
              <a:custGeom>
                <a:avLst/>
                <a:gdLst/>
                <a:ahLst/>
                <a:cxnLst/>
                <a:rect l="l" t="t" r="r" b="b"/>
                <a:pathLst>
                  <a:path w="2140803" h="588685">
                    <a:moveTo>
                      <a:pt x="23146" y="0"/>
                    </a:moveTo>
                    <a:lnTo>
                      <a:pt x="2117658" y="0"/>
                    </a:lnTo>
                    <a:cubicBezTo>
                      <a:pt x="2123797" y="0"/>
                      <a:pt x="2129684" y="2439"/>
                      <a:pt x="2134024" y="6779"/>
                    </a:cubicBezTo>
                    <a:cubicBezTo>
                      <a:pt x="2138365" y="11120"/>
                      <a:pt x="2140803" y="17007"/>
                      <a:pt x="2140803" y="23146"/>
                    </a:cubicBezTo>
                    <a:lnTo>
                      <a:pt x="2140803" y="565539"/>
                    </a:lnTo>
                    <a:cubicBezTo>
                      <a:pt x="2140803" y="578322"/>
                      <a:pt x="2130441" y="588685"/>
                      <a:pt x="2117658" y="588685"/>
                    </a:cubicBezTo>
                    <a:lnTo>
                      <a:pt x="23146" y="588685"/>
                    </a:lnTo>
                    <a:cubicBezTo>
                      <a:pt x="10363" y="588685"/>
                      <a:pt x="0" y="578322"/>
                      <a:pt x="0" y="565539"/>
                    </a:cubicBezTo>
                    <a:lnTo>
                      <a:pt x="0" y="23146"/>
                    </a:lnTo>
                    <a:cubicBezTo>
                      <a:pt x="0" y="10363"/>
                      <a:pt x="10363" y="0"/>
                      <a:pt x="23146" y="0"/>
                    </a:cubicBezTo>
                    <a:close/>
                  </a:path>
                </a:pathLst>
              </a:custGeom>
              <a:solidFill>
                <a:srgbClr val="FFFFFF">
                  <a:alpha val="81961"/>
                </a:srgbClr>
              </a:solidFill>
            </p:spPr>
          </p:sp>
          <p:sp>
            <p:nvSpPr>
              <p:cNvPr id="5" name="TextBox 5"/>
              <p:cNvSpPr txBox="1"/>
              <p:nvPr/>
            </p:nvSpPr>
            <p:spPr>
              <a:xfrm>
                <a:off x="0" y="-9525"/>
                <a:ext cx="2140803" cy="598210"/>
              </a:xfrm>
              <a:prstGeom prst="rect">
                <a:avLst/>
              </a:prstGeom>
            </p:spPr>
            <p:txBody>
              <a:bodyPr lIns="47625" tIns="47625" rIns="47625" bIns="47625" rtlCol="0" anchor="ctr"/>
              <a:lstStyle/>
              <a:p>
                <a:pPr algn="ctr">
                  <a:lnSpc>
                    <a:spcPts val="1350"/>
                  </a:lnSpc>
                </a:pPr>
                <a:endParaRPr sz="1688"/>
              </a:p>
            </p:txBody>
          </p:sp>
        </p:grpSp>
        <p:grpSp>
          <p:nvGrpSpPr>
            <p:cNvPr id="6" name="Group 6"/>
            <p:cNvGrpSpPr/>
            <p:nvPr/>
          </p:nvGrpSpPr>
          <p:grpSpPr>
            <a:xfrm>
              <a:off x="7529482" y="3818143"/>
              <a:ext cx="2546817" cy="2867171"/>
              <a:chOff x="0" y="-211154"/>
              <a:chExt cx="3622140" cy="4077754"/>
            </a:xfrm>
          </p:grpSpPr>
          <p:grpSp>
            <p:nvGrpSpPr>
              <p:cNvPr id="7" name="Group 7"/>
              <p:cNvGrpSpPr/>
              <p:nvPr/>
            </p:nvGrpSpPr>
            <p:grpSpPr>
              <a:xfrm>
                <a:off x="0" y="-211154"/>
                <a:ext cx="3622140" cy="4077754"/>
                <a:chOff x="0" y="-55973"/>
                <a:chExt cx="960158" cy="1080933"/>
              </a:xfrm>
            </p:grpSpPr>
            <p:sp>
              <p:nvSpPr>
                <p:cNvPr id="8" name="Freeform 8"/>
                <p:cNvSpPr/>
                <p:nvPr/>
              </p:nvSpPr>
              <p:spPr>
                <a:xfrm>
                  <a:off x="0" y="-55973"/>
                  <a:ext cx="960158" cy="1080933"/>
                </a:xfrm>
                <a:custGeom>
                  <a:avLst/>
                  <a:gdLst/>
                  <a:ahLst/>
                  <a:cxnLst/>
                  <a:rect l="l" t="t" r="r" b="b"/>
                  <a:pathLst>
                    <a:path w="960158" h="1017498">
                      <a:moveTo>
                        <a:pt x="48447" y="0"/>
                      </a:moveTo>
                      <a:lnTo>
                        <a:pt x="911711" y="0"/>
                      </a:lnTo>
                      <a:cubicBezTo>
                        <a:pt x="938468" y="0"/>
                        <a:pt x="960158" y="21691"/>
                        <a:pt x="960158" y="48447"/>
                      </a:cubicBezTo>
                      <a:lnTo>
                        <a:pt x="960158" y="969050"/>
                      </a:lnTo>
                      <a:cubicBezTo>
                        <a:pt x="960158" y="981899"/>
                        <a:pt x="955054" y="994222"/>
                        <a:pt x="945968" y="1003308"/>
                      </a:cubicBezTo>
                      <a:cubicBezTo>
                        <a:pt x="936883" y="1012394"/>
                        <a:pt x="924560" y="1017498"/>
                        <a:pt x="911711" y="1017498"/>
                      </a:cubicBezTo>
                      <a:lnTo>
                        <a:pt x="48447" y="1017498"/>
                      </a:lnTo>
                      <a:cubicBezTo>
                        <a:pt x="35598" y="1017498"/>
                        <a:pt x="23276" y="1012394"/>
                        <a:pt x="14190" y="1003308"/>
                      </a:cubicBezTo>
                      <a:cubicBezTo>
                        <a:pt x="5104" y="994222"/>
                        <a:pt x="0" y="981899"/>
                        <a:pt x="0" y="969050"/>
                      </a:cubicBezTo>
                      <a:lnTo>
                        <a:pt x="0" y="48447"/>
                      </a:lnTo>
                      <a:cubicBezTo>
                        <a:pt x="0" y="35598"/>
                        <a:pt x="5104" y="23276"/>
                        <a:pt x="14190" y="14190"/>
                      </a:cubicBezTo>
                      <a:cubicBezTo>
                        <a:pt x="23276" y="5104"/>
                        <a:pt x="35598" y="0"/>
                        <a:pt x="48447" y="0"/>
                      </a:cubicBezTo>
                      <a:close/>
                    </a:path>
                  </a:pathLst>
                </a:custGeom>
                <a:solidFill>
                  <a:srgbClr val="FFFFFF">
                    <a:alpha val="60000"/>
                  </a:srgbClr>
                </a:solidFill>
              </p:spPr>
            </p:sp>
            <p:sp>
              <p:nvSpPr>
                <p:cNvPr id="9" name="TextBox 9"/>
                <p:cNvSpPr txBox="1"/>
                <p:nvPr/>
              </p:nvSpPr>
              <p:spPr>
                <a:xfrm>
                  <a:off x="0" y="-9525"/>
                  <a:ext cx="960158" cy="1027023"/>
                </a:xfrm>
                <a:prstGeom prst="rect">
                  <a:avLst/>
                </a:prstGeom>
              </p:spPr>
              <p:txBody>
                <a:bodyPr lIns="50730" tIns="50730" rIns="50730" bIns="50730" rtlCol="0" anchor="ctr"/>
                <a:lstStyle/>
                <a:p>
                  <a:pPr algn="ctr">
                    <a:lnSpc>
                      <a:spcPts val="1349"/>
                    </a:lnSpc>
                  </a:pPr>
                  <a:endParaRPr sz="1688"/>
                </a:p>
              </p:txBody>
            </p:sp>
          </p:grpSp>
          <p:sp>
            <p:nvSpPr>
              <p:cNvPr id="10" name="TextBox 10"/>
              <p:cNvSpPr txBox="1"/>
              <p:nvPr/>
            </p:nvSpPr>
            <p:spPr>
              <a:xfrm>
                <a:off x="288463" y="-52419"/>
                <a:ext cx="3118901" cy="262382"/>
              </a:xfrm>
              <a:prstGeom prst="rect">
                <a:avLst/>
              </a:prstGeom>
            </p:spPr>
            <p:txBody>
              <a:bodyPr lIns="0" tIns="0" rIns="0" bIns="0" rtlCol="0" anchor="t">
                <a:spAutoFit/>
              </a:bodyPr>
              <a:lstStyle/>
              <a:p>
                <a:pPr algn="l">
                  <a:lnSpc>
                    <a:spcPts val="1423"/>
                  </a:lnSpc>
                  <a:spcBef>
                    <a:spcPct val="0"/>
                  </a:spcBef>
                </a:pPr>
                <a:r>
                  <a:rPr lang="en-US" sz="1186" b="1">
                    <a:solidFill>
                      <a:srgbClr val="191919"/>
                    </a:solidFill>
                    <a:latin typeface="DM Sans Bold"/>
                    <a:ea typeface="DM Sans Bold"/>
                    <a:cs typeface="DM Sans Bold"/>
                    <a:sym typeface="DM Sans Bold"/>
                  </a:rPr>
                  <a:t>PAIN &amp; FRUSTRATIONS: </a:t>
                </a:r>
              </a:p>
            </p:txBody>
          </p:sp>
          <p:sp>
            <p:nvSpPr>
              <p:cNvPr id="11" name="TextBox 11"/>
              <p:cNvSpPr txBox="1"/>
              <p:nvPr/>
            </p:nvSpPr>
            <p:spPr>
              <a:xfrm>
                <a:off x="33497" y="549667"/>
                <a:ext cx="3239204" cy="2905428"/>
              </a:xfrm>
              <a:prstGeom prst="rect">
                <a:avLst/>
              </a:prstGeom>
            </p:spPr>
            <p:txBody>
              <a:bodyPr lIns="0" tIns="0" rIns="0" bIns="0" rtlCol="0" anchor="t">
                <a:spAutoFit/>
              </a:bodyPr>
              <a:lstStyle/>
              <a:p>
                <a:pPr marL="219075" lvl="1" indent="-109220" algn="l">
                  <a:lnSpc>
                    <a:spcPts val="1218"/>
                  </a:lnSpc>
                  <a:buFont typeface="Arial"/>
                  <a:buChar char="•"/>
                </a:pPr>
                <a:r>
                  <a:rPr lang="en-US" sz="1015">
                    <a:solidFill>
                      <a:srgbClr val="191919"/>
                    </a:solidFill>
                    <a:latin typeface="DM Sans"/>
                    <a:ea typeface="DM Sans"/>
                    <a:cs typeface="DM Sans"/>
                    <a:sym typeface="DM Sans"/>
                  </a:rPr>
                  <a:t>Running out of key ingredients during busy hours</a:t>
                </a:r>
                <a:endParaRPr lang="en-US"/>
              </a:p>
              <a:p>
                <a:pPr algn="l">
                  <a:lnSpc>
                    <a:spcPts val="1218"/>
                  </a:lnSpc>
                </a:pPr>
                <a:endParaRPr lang="en-US" sz="1015">
                  <a:solidFill>
                    <a:srgbClr val="191919"/>
                  </a:solidFill>
                  <a:latin typeface="DM Sans"/>
                  <a:ea typeface="DM Sans"/>
                  <a:cs typeface="DM Sans"/>
                  <a:sym typeface="DM Sans"/>
                </a:endParaRPr>
              </a:p>
              <a:p>
                <a:pPr marL="219075" lvl="1" indent="-109220" algn="l">
                  <a:lnSpc>
                    <a:spcPts val="1218"/>
                  </a:lnSpc>
                  <a:buFont typeface="Arial"/>
                  <a:buChar char="•"/>
                </a:pPr>
                <a:r>
                  <a:rPr lang="en-US" sz="1015">
                    <a:solidFill>
                      <a:srgbClr val="191919"/>
                    </a:solidFill>
                    <a:latin typeface="DM Sans"/>
                    <a:ea typeface="DM Sans"/>
                    <a:cs typeface="DM Sans"/>
                    <a:sym typeface="DM Sans"/>
                  </a:rPr>
                  <a:t>Ordering too much stock and losing money to food waste</a:t>
                </a:r>
                <a:endParaRPr lang="en-US" sz="1015">
                  <a:solidFill>
                    <a:srgbClr val="191919"/>
                  </a:solidFill>
                  <a:latin typeface="DM Sans"/>
                  <a:ea typeface="DM Sans"/>
                  <a:cs typeface="DM Sans"/>
                </a:endParaRPr>
              </a:p>
              <a:p>
                <a:pPr algn="l">
                  <a:lnSpc>
                    <a:spcPts val="1218"/>
                  </a:lnSpc>
                </a:pPr>
                <a:endParaRPr lang="en-US" sz="1015">
                  <a:solidFill>
                    <a:srgbClr val="191919"/>
                  </a:solidFill>
                  <a:latin typeface="DM Sans"/>
                  <a:ea typeface="DM Sans"/>
                  <a:cs typeface="DM Sans"/>
                  <a:sym typeface="DM Sans"/>
                </a:endParaRPr>
              </a:p>
              <a:p>
                <a:pPr marL="219075" lvl="1" indent="-109220" algn="l">
                  <a:lnSpc>
                    <a:spcPts val="1218"/>
                  </a:lnSpc>
                  <a:buFont typeface="Arial"/>
                  <a:buChar char="•"/>
                </a:pPr>
                <a:r>
                  <a:rPr lang="en-US" sz="1015">
                    <a:solidFill>
                      <a:srgbClr val="191919"/>
                    </a:solidFill>
                    <a:latin typeface="DM Sans"/>
                    <a:ea typeface="DM Sans"/>
                    <a:cs typeface="DM Sans"/>
                    <a:sym typeface="DM Sans"/>
                  </a:rPr>
                  <a:t>Spending too much time counting inventory manually</a:t>
                </a:r>
                <a:endParaRPr lang="en-US" sz="1015">
                  <a:solidFill>
                    <a:srgbClr val="191919"/>
                  </a:solidFill>
                  <a:latin typeface="DM Sans"/>
                  <a:ea typeface="DM Sans"/>
                  <a:cs typeface="DM Sans"/>
                </a:endParaRPr>
              </a:p>
              <a:p>
                <a:pPr algn="l">
                  <a:lnSpc>
                    <a:spcPts val="1218"/>
                  </a:lnSpc>
                </a:pPr>
                <a:endParaRPr lang="en-US" sz="1015">
                  <a:solidFill>
                    <a:srgbClr val="191919"/>
                  </a:solidFill>
                  <a:latin typeface="DM Sans"/>
                  <a:ea typeface="DM Sans"/>
                  <a:cs typeface="DM Sans"/>
                  <a:sym typeface="DM Sans"/>
                </a:endParaRPr>
              </a:p>
              <a:p>
                <a:pPr marL="219075" lvl="1" indent="-109220" algn="l">
                  <a:lnSpc>
                    <a:spcPts val="1218"/>
                  </a:lnSpc>
                  <a:buFont typeface="Arial"/>
                  <a:buChar char="•"/>
                </a:pPr>
                <a:r>
                  <a:rPr lang="en-US" sz="1015">
                    <a:solidFill>
                      <a:srgbClr val="191919"/>
                    </a:solidFill>
                    <a:latin typeface="DM Sans"/>
                    <a:ea typeface="DM Sans"/>
                    <a:cs typeface="DM Sans"/>
                    <a:sym typeface="DM Sans"/>
                  </a:rPr>
                  <a:t>Still not knowing the exact stock levels after checking</a:t>
                </a:r>
                <a:endParaRPr lang="en-US" sz="1015">
                  <a:solidFill>
                    <a:srgbClr val="191919"/>
                  </a:solidFill>
                  <a:latin typeface="DM Sans"/>
                  <a:ea typeface="DM Sans"/>
                  <a:cs typeface="DM Sans"/>
                </a:endParaRPr>
              </a:p>
              <a:p>
                <a:pPr algn="l">
                  <a:lnSpc>
                    <a:spcPts val="1218"/>
                  </a:lnSpc>
                </a:pPr>
                <a:endParaRPr lang="en-US" sz="1015">
                  <a:solidFill>
                    <a:srgbClr val="191919"/>
                  </a:solidFill>
                  <a:latin typeface="DM Sans"/>
                  <a:ea typeface="DM Sans"/>
                  <a:cs typeface="DM Sans"/>
                  <a:sym typeface="DM Sans"/>
                </a:endParaRPr>
              </a:p>
              <a:p>
                <a:pPr marL="219075" lvl="1" indent="-109220" algn="l">
                  <a:lnSpc>
                    <a:spcPts val="1218"/>
                  </a:lnSpc>
                  <a:spcBef>
                    <a:spcPct val="0"/>
                  </a:spcBef>
                  <a:buFont typeface="Arial"/>
                  <a:buChar char="•"/>
                </a:pPr>
                <a:r>
                  <a:rPr lang="en-US" sz="1015">
                    <a:solidFill>
                      <a:srgbClr val="191919"/>
                    </a:solidFill>
                    <a:latin typeface="DM Sans"/>
                    <a:ea typeface="DM Sans"/>
                    <a:cs typeface="DM Sans"/>
                    <a:sym typeface="DM Sans"/>
                  </a:rPr>
                  <a:t>Having no warning when items are about to run low</a:t>
                </a:r>
                <a:endParaRPr lang="en-US" sz="1015">
                  <a:solidFill>
                    <a:srgbClr val="191919"/>
                  </a:solidFill>
                  <a:latin typeface="DM Sans"/>
                  <a:ea typeface="DM Sans"/>
                  <a:cs typeface="DM Sans"/>
                </a:endParaRPr>
              </a:p>
            </p:txBody>
          </p:sp>
        </p:grpSp>
        <p:grpSp>
          <p:nvGrpSpPr>
            <p:cNvPr id="12" name="Group 12"/>
            <p:cNvGrpSpPr/>
            <p:nvPr/>
          </p:nvGrpSpPr>
          <p:grpSpPr>
            <a:xfrm>
              <a:off x="4792940" y="2149392"/>
              <a:ext cx="5283359" cy="1571331"/>
              <a:chOff x="0" y="-33733"/>
              <a:chExt cx="7514110" cy="2234781"/>
            </a:xfrm>
          </p:grpSpPr>
          <p:grpSp>
            <p:nvGrpSpPr>
              <p:cNvPr id="13" name="Group 13"/>
              <p:cNvGrpSpPr/>
              <p:nvPr/>
            </p:nvGrpSpPr>
            <p:grpSpPr>
              <a:xfrm>
                <a:off x="0" y="-33733"/>
                <a:ext cx="7514110" cy="2234781"/>
                <a:chOff x="0" y="-9525"/>
                <a:chExt cx="2121710" cy="631020"/>
              </a:xfrm>
            </p:grpSpPr>
            <p:sp>
              <p:nvSpPr>
                <p:cNvPr id="14" name="Freeform 14"/>
                <p:cNvSpPr/>
                <p:nvPr/>
              </p:nvSpPr>
              <p:spPr>
                <a:xfrm>
                  <a:off x="0" y="0"/>
                  <a:ext cx="2121710" cy="557898"/>
                </a:xfrm>
                <a:custGeom>
                  <a:avLst/>
                  <a:gdLst/>
                  <a:ahLst/>
                  <a:cxnLst/>
                  <a:rect l="l" t="t" r="r" b="b"/>
                  <a:pathLst>
                    <a:path w="2121710" h="621495">
                      <a:moveTo>
                        <a:pt x="23354" y="0"/>
                      </a:moveTo>
                      <a:lnTo>
                        <a:pt x="2098356" y="0"/>
                      </a:lnTo>
                      <a:cubicBezTo>
                        <a:pt x="2104550" y="0"/>
                        <a:pt x="2110490" y="2460"/>
                        <a:pt x="2114869" y="6840"/>
                      </a:cubicBezTo>
                      <a:cubicBezTo>
                        <a:pt x="2119249" y="11220"/>
                        <a:pt x="2121710" y="17160"/>
                        <a:pt x="2121710" y="23354"/>
                      </a:cubicBezTo>
                      <a:lnTo>
                        <a:pt x="2121710" y="598142"/>
                      </a:lnTo>
                      <a:cubicBezTo>
                        <a:pt x="2121710" y="604335"/>
                        <a:pt x="2119249" y="610276"/>
                        <a:pt x="2114869" y="614655"/>
                      </a:cubicBezTo>
                      <a:cubicBezTo>
                        <a:pt x="2110490" y="619035"/>
                        <a:pt x="2104550" y="621495"/>
                        <a:pt x="2098356" y="621495"/>
                      </a:cubicBezTo>
                      <a:lnTo>
                        <a:pt x="23354" y="621495"/>
                      </a:lnTo>
                      <a:cubicBezTo>
                        <a:pt x="17160" y="621495"/>
                        <a:pt x="11220" y="619035"/>
                        <a:pt x="6840" y="614655"/>
                      </a:cubicBezTo>
                      <a:cubicBezTo>
                        <a:pt x="2460" y="610276"/>
                        <a:pt x="0" y="604335"/>
                        <a:pt x="0" y="598142"/>
                      </a:cubicBezTo>
                      <a:lnTo>
                        <a:pt x="0" y="23354"/>
                      </a:lnTo>
                      <a:cubicBezTo>
                        <a:pt x="0" y="17160"/>
                        <a:pt x="2460" y="11220"/>
                        <a:pt x="6840" y="6840"/>
                      </a:cubicBezTo>
                      <a:cubicBezTo>
                        <a:pt x="11220" y="2460"/>
                        <a:pt x="17160" y="0"/>
                        <a:pt x="23354" y="0"/>
                      </a:cubicBezTo>
                      <a:close/>
                    </a:path>
                  </a:pathLst>
                </a:custGeom>
                <a:solidFill>
                  <a:srgbClr val="FFFFFF">
                    <a:alpha val="60000"/>
                  </a:srgbClr>
                </a:solidFill>
              </p:spPr>
            </p:sp>
            <p:sp>
              <p:nvSpPr>
                <p:cNvPr id="15" name="TextBox 15"/>
                <p:cNvSpPr txBox="1"/>
                <p:nvPr/>
              </p:nvSpPr>
              <p:spPr>
                <a:xfrm>
                  <a:off x="0" y="-9525"/>
                  <a:ext cx="2121710" cy="631020"/>
                </a:xfrm>
                <a:prstGeom prst="rect">
                  <a:avLst/>
                </a:prstGeom>
              </p:spPr>
              <p:txBody>
                <a:bodyPr lIns="47625" tIns="47625" rIns="47625" bIns="47625" rtlCol="0" anchor="ctr"/>
                <a:lstStyle/>
                <a:p>
                  <a:pPr algn="ctr">
                    <a:lnSpc>
                      <a:spcPts val="1350"/>
                    </a:lnSpc>
                  </a:pPr>
                  <a:endParaRPr sz="1688"/>
                </a:p>
              </p:txBody>
            </p:sp>
          </p:grpSp>
          <p:sp>
            <p:nvSpPr>
              <p:cNvPr id="16" name="TextBox 16"/>
              <p:cNvSpPr txBox="1"/>
              <p:nvPr/>
            </p:nvSpPr>
            <p:spPr>
              <a:xfrm>
                <a:off x="697079" y="152020"/>
                <a:ext cx="6119953" cy="250825"/>
              </a:xfrm>
              <a:prstGeom prst="rect">
                <a:avLst/>
              </a:prstGeom>
            </p:spPr>
            <p:txBody>
              <a:bodyPr lIns="0" tIns="0" rIns="0" bIns="0" rtlCol="0" anchor="t">
                <a:spAutoFit/>
              </a:bodyPr>
              <a:lstStyle/>
              <a:p>
                <a:pPr algn="ctr">
                  <a:lnSpc>
                    <a:spcPts val="1336"/>
                  </a:lnSpc>
                  <a:spcBef>
                    <a:spcPct val="0"/>
                  </a:spcBef>
                </a:pPr>
                <a:r>
                  <a:rPr lang="en-US" sz="1113" b="1">
                    <a:solidFill>
                      <a:srgbClr val="191919"/>
                    </a:solidFill>
                    <a:latin typeface="DM Sans Bold"/>
                    <a:ea typeface="DM Sans Bold"/>
                    <a:cs typeface="DM Sans Bold"/>
                    <a:sym typeface="DM Sans Bold"/>
                  </a:rPr>
                  <a:t>NEEDS &amp; GOALS:</a:t>
                </a:r>
              </a:p>
            </p:txBody>
          </p:sp>
          <p:sp>
            <p:nvSpPr>
              <p:cNvPr id="17" name="TextBox 17"/>
              <p:cNvSpPr txBox="1"/>
              <p:nvPr/>
            </p:nvSpPr>
            <p:spPr>
              <a:xfrm>
                <a:off x="436607" y="536526"/>
                <a:ext cx="6816904" cy="1452713"/>
              </a:xfrm>
              <a:prstGeom prst="rect">
                <a:avLst/>
              </a:prstGeom>
            </p:spPr>
            <p:txBody>
              <a:bodyPr wrap="square" lIns="0" tIns="0" rIns="0" bIns="0" rtlCol="0" anchor="t">
                <a:spAutoFit/>
              </a:bodyPr>
              <a:lstStyle/>
              <a:p>
                <a:pPr marL="216535" lvl="1" indent="-107950" algn="l">
                  <a:lnSpc>
                    <a:spcPts val="1204"/>
                  </a:lnSpc>
                  <a:buFont typeface="Arial"/>
                  <a:buChar char="•"/>
                </a:pPr>
                <a:r>
                  <a:rPr lang="en-US" sz="1003">
                    <a:solidFill>
                      <a:srgbClr val="191919"/>
                    </a:solidFill>
                    <a:latin typeface="DM Sans"/>
                    <a:ea typeface="DM Sans"/>
                    <a:cs typeface="DM Sans"/>
                    <a:sym typeface="DM Sans"/>
                  </a:rPr>
                  <a:t>An easier/simpler way to track their products (Low Stock, Overstock, Understocking, etc.) </a:t>
                </a:r>
                <a:endParaRPr lang="en-US"/>
              </a:p>
              <a:p>
                <a:pPr algn="l">
                  <a:lnSpc>
                    <a:spcPts val="1204"/>
                  </a:lnSpc>
                </a:pPr>
                <a:endParaRPr lang="en-US" sz="1003">
                  <a:solidFill>
                    <a:srgbClr val="191919"/>
                  </a:solidFill>
                  <a:latin typeface="DM Sans"/>
                  <a:ea typeface="DM Sans"/>
                  <a:cs typeface="DM Sans"/>
                  <a:sym typeface="DM Sans"/>
                </a:endParaRPr>
              </a:p>
              <a:p>
                <a:pPr marL="216687" lvl="1" indent="-108343" algn="l">
                  <a:lnSpc>
                    <a:spcPts val="1204"/>
                  </a:lnSpc>
                  <a:buFont typeface="Arial"/>
                  <a:buChar char="•"/>
                </a:pPr>
                <a:r>
                  <a:rPr lang="en-US" sz="1003">
                    <a:solidFill>
                      <a:srgbClr val="191919"/>
                    </a:solidFill>
                    <a:latin typeface="DM Sans"/>
                    <a:ea typeface="DM Sans"/>
                    <a:cs typeface="DM Sans"/>
                    <a:sym typeface="DM Sans"/>
                  </a:rPr>
                  <a:t>Centralized inventory management system.</a:t>
                </a:r>
              </a:p>
              <a:p>
                <a:pPr algn="l">
                  <a:lnSpc>
                    <a:spcPts val="1204"/>
                  </a:lnSpc>
                </a:pPr>
                <a:endParaRPr lang="en-US" sz="1003">
                  <a:solidFill>
                    <a:srgbClr val="191919"/>
                  </a:solidFill>
                  <a:latin typeface="DM Sans"/>
                  <a:ea typeface="DM Sans"/>
                  <a:cs typeface="DM Sans"/>
                  <a:sym typeface="DM Sans"/>
                </a:endParaRPr>
              </a:p>
              <a:p>
                <a:pPr marL="216687" lvl="1" indent="-108343" algn="l">
                  <a:lnSpc>
                    <a:spcPts val="1204"/>
                  </a:lnSpc>
                  <a:buFont typeface="Arial"/>
                  <a:buChar char="•"/>
                </a:pPr>
                <a:r>
                  <a:rPr lang="en-US" sz="1003">
                    <a:solidFill>
                      <a:srgbClr val="191919"/>
                    </a:solidFill>
                    <a:latin typeface="DM Sans"/>
                    <a:ea typeface="DM Sans"/>
                    <a:cs typeface="DM Sans"/>
                    <a:sym typeface="DM Sans"/>
                  </a:rPr>
                  <a:t>A system that tracks sales. </a:t>
                </a:r>
              </a:p>
              <a:p>
                <a:pPr algn="l">
                  <a:lnSpc>
                    <a:spcPts val="1204"/>
                  </a:lnSpc>
                  <a:spcBef>
                    <a:spcPct val="0"/>
                  </a:spcBef>
                </a:pPr>
                <a:endParaRPr lang="en-US" sz="1003">
                  <a:solidFill>
                    <a:srgbClr val="191919"/>
                  </a:solidFill>
                  <a:latin typeface="DM Sans"/>
                  <a:ea typeface="DM Sans"/>
                  <a:cs typeface="DM Sans"/>
                  <a:sym typeface="DM Sans"/>
                </a:endParaRPr>
              </a:p>
            </p:txBody>
          </p:sp>
        </p:grpSp>
        <p:grpSp>
          <p:nvGrpSpPr>
            <p:cNvPr id="18" name="Group 18"/>
            <p:cNvGrpSpPr/>
            <p:nvPr/>
          </p:nvGrpSpPr>
          <p:grpSpPr>
            <a:xfrm>
              <a:off x="1745789" y="384132"/>
              <a:ext cx="2829548" cy="4319148"/>
              <a:chOff x="0" y="-38"/>
              <a:chExt cx="4024245" cy="6142787"/>
            </a:xfrm>
          </p:grpSpPr>
          <p:grpSp>
            <p:nvGrpSpPr>
              <p:cNvPr id="19" name="Group 19"/>
              <p:cNvGrpSpPr/>
              <p:nvPr/>
            </p:nvGrpSpPr>
            <p:grpSpPr>
              <a:xfrm>
                <a:off x="0" y="79210"/>
                <a:ext cx="4024245" cy="6063539"/>
                <a:chOff x="0" y="-9525"/>
                <a:chExt cx="1038399" cy="1564609"/>
              </a:xfrm>
            </p:grpSpPr>
            <p:sp>
              <p:nvSpPr>
                <p:cNvPr id="20" name="Freeform 20"/>
                <p:cNvSpPr/>
                <p:nvPr/>
              </p:nvSpPr>
              <p:spPr>
                <a:xfrm>
                  <a:off x="0" y="0"/>
                  <a:ext cx="1038399" cy="1555084"/>
                </a:xfrm>
                <a:custGeom>
                  <a:avLst/>
                  <a:gdLst/>
                  <a:ahLst/>
                  <a:cxnLst/>
                  <a:rect l="l" t="t" r="r" b="b"/>
                  <a:pathLst>
                    <a:path w="1038399" h="1555084">
                      <a:moveTo>
                        <a:pt x="50801" y="0"/>
                      </a:moveTo>
                      <a:lnTo>
                        <a:pt x="987598" y="0"/>
                      </a:lnTo>
                      <a:cubicBezTo>
                        <a:pt x="1015654" y="0"/>
                        <a:pt x="1038399" y="22744"/>
                        <a:pt x="1038399" y="50801"/>
                      </a:cubicBezTo>
                      <a:lnTo>
                        <a:pt x="1038399" y="1504283"/>
                      </a:lnTo>
                      <a:cubicBezTo>
                        <a:pt x="1038399" y="1532340"/>
                        <a:pt x="1015654" y="1555084"/>
                        <a:pt x="987598" y="1555084"/>
                      </a:cubicBezTo>
                      <a:lnTo>
                        <a:pt x="50801" y="1555084"/>
                      </a:lnTo>
                      <a:cubicBezTo>
                        <a:pt x="22744" y="1555084"/>
                        <a:pt x="0" y="1532340"/>
                        <a:pt x="0" y="1504283"/>
                      </a:cubicBezTo>
                      <a:lnTo>
                        <a:pt x="0" y="50801"/>
                      </a:lnTo>
                      <a:cubicBezTo>
                        <a:pt x="0" y="22744"/>
                        <a:pt x="22744" y="0"/>
                        <a:pt x="50801" y="0"/>
                      </a:cubicBezTo>
                      <a:close/>
                    </a:path>
                  </a:pathLst>
                </a:custGeom>
                <a:solidFill>
                  <a:srgbClr val="FFFFFF">
                    <a:alpha val="60000"/>
                  </a:srgbClr>
                </a:solidFill>
              </p:spPr>
            </p:sp>
            <p:sp>
              <p:nvSpPr>
                <p:cNvPr id="21" name="TextBox 21"/>
                <p:cNvSpPr txBox="1"/>
                <p:nvPr/>
              </p:nvSpPr>
              <p:spPr>
                <a:xfrm>
                  <a:off x="0" y="-9525"/>
                  <a:ext cx="1038399" cy="1564609"/>
                </a:xfrm>
                <a:prstGeom prst="rect">
                  <a:avLst/>
                </a:prstGeom>
              </p:spPr>
              <p:txBody>
                <a:bodyPr lIns="47625" tIns="47625" rIns="47625" bIns="47625" rtlCol="0" anchor="ctr"/>
                <a:lstStyle/>
                <a:p>
                  <a:pPr algn="ctr">
                    <a:lnSpc>
                      <a:spcPts val="1350"/>
                    </a:lnSpc>
                  </a:pPr>
                  <a:endParaRPr sz="1688"/>
                </a:p>
              </p:txBody>
            </p:sp>
          </p:grpSp>
          <p:sp>
            <p:nvSpPr>
              <p:cNvPr id="22" name="AutoShape 22"/>
              <p:cNvSpPr/>
              <p:nvPr/>
            </p:nvSpPr>
            <p:spPr>
              <a:xfrm>
                <a:off x="308918" y="2046711"/>
                <a:ext cx="3429854" cy="0"/>
              </a:xfrm>
              <a:prstGeom prst="line">
                <a:avLst/>
              </a:prstGeom>
              <a:ln w="207133" cap="flat">
                <a:solidFill>
                  <a:srgbClr val="969672"/>
                </a:solidFill>
                <a:prstDash val="solid"/>
                <a:headEnd type="none" w="sm" len="sm"/>
                <a:tailEnd type="none" w="sm" len="sm"/>
              </a:ln>
            </p:spPr>
          </p:sp>
          <p:sp>
            <p:nvSpPr>
              <p:cNvPr id="23" name="AutoShape 23"/>
              <p:cNvSpPr/>
              <p:nvPr/>
            </p:nvSpPr>
            <p:spPr>
              <a:xfrm>
                <a:off x="308918" y="5871588"/>
                <a:ext cx="3429854" cy="0"/>
              </a:xfrm>
              <a:prstGeom prst="line">
                <a:avLst/>
              </a:prstGeom>
              <a:ln w="118362" cap="flat">
                <a:solidFill>
                  <a:srgbClr val="969672"/>
                </a:solidFill>
                <a:prstDash val="solid"/>
                <a:headEnd type="none" w="sm" len="sm"/>
                <a:tailEnd type="none" w="sm" len="sm"/>
              </a:ln>
            </p:spPr>
          </p:sp>
          <p:sp>
            <p:nvSpPr>
              <p:cNvPr id="24" name="AutoShape 24"/>
              <p:cNvSpPr/>
              <p:nvPr/>
            </p:nvSpPr>
            <p:spPr>
              <a:xfrm>
                <a:off x="308918" y="2796723"/>
                <a:ext cx="3429854" cy="0"/>
              </a:xfrm>
              <a:prstGeom prst="line">
                <a:avLst/>
              </a:prstGeom>
              <a:ln w="29590" cap="flat">
                <a:solidFill>
                  <a:srgbClr val="969672"/>
                </a:solidFill>
                <a:prstDash val="solid"/>
                <a:headEnd type="none" w="sm" len="sm"/>
                <a:tailEnd type="none" w="sm" len="sm"/>
              </a:ln>
            </p:spPr>
          </p:sp>
          <p:grpSp>
            <p:nvGrpSpPr>
              <p:cNvPr id="25" name="Group 25"/>
              <p:cNvGrpSpPr>
                <a:grpSpLocks noChangeAspect="1"/>
              </p:cNvGrpSpPr>
              <p:nvPr/>
            </p:nvGrpSpPr>
            <p:grpSpPr>
              <a:xfrm>
                <a:off x="986336" y="-38"/>
                <a:ext cx="1839661" cy="1839654"/>
                <a:chOff x="-133" y="-131"/>
                <a:chExt cx="6350261" cy="6350236"/>
              </a:xfrm>
            </p:grpSpPr>
            <p:sp>
              <p:nvSpPr>
                <p:cNvPr id="26" name="Freeform 26"/>
                <p:cNvSpPr/>
                <p:nvPr/>
              </p:nvSpPr>
              <p:spPr>
                <a:xfrm rot="-240000">
                  <a:off x="-133" y="-131"/>
                  <a:ext cx="6350261" cy="6350236"/>
                </a:xfrm>
                <a:custGeom>
                  <a:avLst/>
                  <a:gdLst/>
                  <a:ahLst/>
                  <a:cxnLst/>
                  <a:rect l="l" t="t" r="r" b="b"/>
                  <a:pathLst>
                    <a:path w="6350261" h="6350236">
                      <a:moveTo>
                        <a:pt x="6342396" y="3396633"/>
                      </a:moveTo>
                      <a:cubicBezTo>
                        <a:pt x="6220083" y="5145788"/>
                        <a:pt x="4702862" y="6464688"/>
                        <a:pt x="2953657" y="6342371"/>
                      </a:cubicBezTo>
                      <a:cubicBezTo>
                        <a:pt x="1204427" y="6220053"/>
                        <a:pt x="-114448" y="4702834"/>
                        <a:pt x="7864" y="2953679"/>
                      </a:cubicBezTo>
                      <a:cubicBezTo>
                        <a:pt x="130183" y="1204437"/>
                        <a:pt x="1647379" y="-114453"/>
                        <a:pt x="3396609" y="7865"/>
                      </a:cubicBezTo>
                      <a:cubicBezTo>
                        <a:pt x="5145839" y="130183"/>
                        <a:pt x="6464715" y="1647390"/>
                        <a:pt x="6342396" y="3396633"/>
                      </a:cubicBezTo>
                      <a:close/>
                    </a:path>
                  </a:pathLst>
                </a:custGeom>
                <a:blipFill>
                  <a:blip r:embed="rId4"/>
                  <a:stretch>
                    <a:fillRect l="-23923" b="-239517"/>
                  </a:stretch>
                </a:blipFill>
              </p:spPr>
            </p:sp>
          </p:grpSp>
          <p:sp>
            <p:nvSpPr>
              <p:cNvPr id="27" name="AutoShape 27"/>
              <p:cNvSpPr/>
              <p:nvPr/>
            </p:nvSpPr>
            <p:spPr>
              <a:xfrm>
                <a:off x="308838" y="4131399"/>
                <a:ext cx="3429908" cy="11547"/>
              </a:xfrm>
              <a:prstGeom prst="line">
                <a:avLst/>
              </a:prstGeom>
              <a:ln w="14795" cap="flat">
                <a:solidFill>
                  <a:srgbClr val="969672">
                    <a:alpha val="49804"/>
                  </a:srgbClr>
                </a:solidFill>
                <a:prstDash val="solid"/>
                <a:headEnd type="none" w="sm" len="sm"/>
                <a:tailEnd type="none" w="sm" len="sm"/>
              </a:ln>
            </p:spPr>
          </p:sp>
          <p:sp>
            <p:nvSpPr>
              <p:cNvPr id="28" name="AutoShape 28"/>
              <p:cNvSpPr/>
              <p:nvPr/>
            </p:nvSpPr>
            <p:spPr>
              <a:xfrm>
                <a:off x="308942" y="4885375"/>
                <a:ext cx="3429908" cy="11547"/>
              </a:xfrm>
              <a:prstGeom prst="line">
                <a:avLst/>
              </a:prstGeom>
              <a:ln w="14795" cap="flat">
                <a:solidFill>
                  <a:srgbClr val="969672">
                    <a:alpha val="49804"/>
                  </a:srgbClr>
                </a:solidFill>
                <a:prstDash val="solid"/>
                <a:headEnd type="none" w="sm" len="sm"/>
                <a:tailEnd type="none" w="sm" len="sm"/>
              </a:ln>
            </p:spPr>
          </p:sp>
          <p:sp>
            <p:nvSpPr>
              <p:cNvPr id="29" name="AutoShape 29"/>
              <p:cNvSpPr/>
              <p:nvPr/>
            </p:nvSpPr>
            <p:spPr>
              <a:xfrm flipV="1">
                <a:off x="308918" y="3366107"/>
                <a:ext cx="3429854" cy="23094"/>
              </a:xfrm>
              <a:prstGeom prst="line">
                <a:avLst/>
              </a:prstGeom>
              <a:ln w="14795" cap="flat">
                <a:solidFill>
                  <a:srgbClr val="969672">
                    <a:alpha val="49804"/>
                  </a:srgbClr>
                </a:solidFill>
                <a:prstDash val="solid"/>
                <a:headEnd type="none" w="sm" len="sm"/>
                <a:tailEnd type="none" w="sm" len="sm"/>
              </a:ln>
            </p:spPr>
          </p:sp>
          <p:sp>
            <p:nvSpPr>
              <p:cNvPr id="30" name="TextBox 30"/>
              <p:cNvSpPr txBox="1"/>
              <p:nvPr/>
            </p:nvSpPr>
            <p:spPr>
              <a:xfrm>
                <a:off x="308918" y="2980170"/>
                <a:ext cx="1395926" cy="227662"/>
              </a:xfrm>
              <a:prstGeom prst="rect">
                <a:avLst/>
              </a:prstGeom>
            </p:spPr>
            <p:txBody>
              <a:bodyPr lIns="0" tIns="0" rIns="0" bIns="0" rtlCol="0" anchor="t">
                <a:spAutoFit/>
              </a:bodyPr>
              <a:lstStyle/>
              <a:p>
                <a:pPr algn="l">
                  <a:lnSpc>
                    <a:spcPts val="1242"/>
                  </a:lnSpc>
                  <a:spcBef>
                    <a:spcPct val="0"/>
                  </a:spcBef>
                </a:pPr>
                <a:r>
                  <a:rPr lang="en-US" sz="1035" b="1">
                    <a:solidFill>
                      <a:srgbClr val="191919"/>
                    </a:solidFill>
                    <a:latin typeface="DM Sans Bold"/>
                    <a:ea typeface="DM Sans Bold"/>
                    <a:cs typeface="DM Sans Bold"/>
                    <a:sym typeface="DM Sans Bold"/>
                  </a:rPr>
                  <a:t>AGE</a:t>
                </a:r>
              </a:p>
            </p:txBody>
          </p:sp>
          <p:sp>
            <p:nvSpPr>
              <p:cNvPr id="31" name="TextBox 31"/>
              <p:cNvSpPr txBox="1"/>
              <p:nvPr/>
            </p:nvSpPr>
            <p:spPr>
              <a:xfrm>
                <a:off x="308918" y="2320277"/>
                <a:ext cx="3429854" cy="315512"/>
              </a:xfrm>
              <a:prstGeom prst="rect">
                <a:avLst/>
              </a:prstGeom>
            </p:spPr>
            <p:txBody>
              <a:bodyPr lIns="0" tIns="0" rIns="0" bIns="0" rtlCol="0" anchor="t">
                <a:spAutoFit/>
              </a:bodyPr>
              <a:lstStyle/>
              <a:p>
                <a:pPr algn="ctr">
                  <a:lnSpc>
                    <a:spcPts val="1695"/>
                  </a:lnSpc>
                  <a:spcBef>
                    <a:spcPct val="0"/>
                  </a:spcBef>
                </a:pPr>
                <a:r>
                  <a:rPr lang="en-US" sz="1412" b="1">
                    <a:solidFill>
                      <a:srgbClr val="191919"/>
                    </a:solidFill>
                    <a:latin typeface="DM Sans Bold"/>
                    <a:ea typeface="DM Sans Bold"/>
                    <a:cs typeface="DM Sans Bold"/>
                    <a:sym typeface="DM Sans Bold"/>
                  </a:rPr>
                  <a:t>DAVID HENDERSON</a:t>
                </a:r>
              </a:p>
            </p:txBody>
          </p:sp>
          <p:sp>
            <p:nvSpPr>
              <p:cNvPr id="32" name="TextBox 32"/>
              <p:cNvSpPr txBox="1"/>
              <p:nvPr/>
            </p:nvSpPr>
            <p:spPr>
              <a:xfrm>
                <a:off x="308838" y="5189066"/>
                <a:ext cx="2009443" cy="445798"/>
              </a:xfrm>
              <a:prstGeom prst="rect">
                <a:avLst/>
              </a:prstGeom>
            </p:spPr>
            <p:txBody>
              <a:bodyPr lIns="0" tIns="0" rIns="0" bIns="0" rtlCol="0" anchor="t">
                <a:spAutoFit/>
              </a:bodyPr>
              <a:lstStyle/>
              <a:p>
                <a:pPr algn="l">
                  <a:lnSpc>
                    <a:spcPts val="1242"/>
                  </a:lnSpc>
                  <a:spcBef>
                    <a:spcPct val="0"/>
                  </a:spcBef>
                </a:pPr>
                <a:r>
                  <a:rPr lang="en-US" sz="1035" b="1">
                    <a:solidFill>
                      <a:srgbClr val="191919"/>
                    </a:solidFill>
                    <a:latin typeface="DM Sans Bold"/>
                    <a:ea typeface="DM Sans Bold"/>
                    <a:cs typeface="DM Sans Bold"/>
                    <a:sym typeface="DM Sans Bold"/>
                  </a:rPr>
                  <a:t>TECH COMFORT LEVEL</a:t>
                </a:r>
              </a:p>
            </p:txBody>
          </p:sp>
          <p:sp>
            <p:nvSpPr>
              <p:cNvPr id="33" name="TextBox 33"/>
              <p:cNvSpPr txBox="1"/>
              <p:nvPr/>
            </p:nvSpPr>
            <p:spPr>
              <a:xfrm>
                <a:off x="308918" y="4407133"/>
                <a:ext cx="1703205" cy="227662"/>
              </a:xfrm>
              <a:prstGeom prst="rect">
                <a:avLst/>
              </a:prstGeom>
            </p:spPr>
            <p:txBody>
              <a:bodyPr lIns="0" tIns="0" rIns="0" bIns="0" rtlCol="0" anchor="t">
                <a:spAutoFit/>
              </a:bodyPr>
              <a:lstStyle/>
              <a:p>
                <a:pPr algn="l">
                  <a:lnSpc>
                    <a:spcPts val="1242"/>
                  </a:lnSpc>
                  <a:spcBef>
                    <a:spcPct val="0"/>
                  </a:spcBef>
                </a:pPr>
                <a:r>
                  <a:rPr lang="en-US" sz="1035" b="1">
                    <a:solidFill>
                      <a:srgbClr val="191919"/>
                    </a:solidFill>
                    <a:latin typeface="DM Sans Bold"/>
                    <a:ea typeface="DM Sans Bold"/>
                    <a:cs typeface="DM Sans Bold"/>
                    <a:sym typeface="DM Sans Bold"/>
                  </a:rPr>
                  <a:t>LOCATION</a:t>
                </a:r>
              </a:p>
            </p:txBody>
          </p:sp>
          <p:sp>
            <p:nvSpPr>
              <p:cNvPr id="34" name="TextBox 34"/>
              <p:cNvSpPr txBox="1"/>
              <p:nvPr/>
            </p:nvSpPr>
            <p:spPr>
              <a:xfrm>
                <a:off x="308838" y="3656260"/>
                <a:ext cx="1395926" cy="227662"/>
              </a:xfrm>
              <a:prstGeom prst="rect">
                <a:avLst/>
              </a:prstGeom>
            </p:spPr>
            <p:txBody>
              <a:bodyPr lIns="0" tIns="0" rIns="0" bIns="0" rtlCol="0" anchor="t">
                <a:spAutoFit/>
              </a:bodyPr>
              <a:lstStyle/>
              <a:p>
                <a:pPr algn="l">
                  <a:lnSpc>
                    <a:spcPts val="1242"/>
                  </a:lnSpc>
                  <a:spcBef>
                    <a:spcPct val="0"/>
                  </a:spcBef>
                </a:pPr>
                <a:r>
                  <a:rPr lang="en-US" sz="1035" b="1">
                    <a:solidFill>
                      <a:srgbClr val="191919"/>
                    </a:solidFill>
                    <a:latin typeface="DM Sans Bold"/>
                    <a:ea typeface="DM Sans Bold"/>
                    <a:cs typeface="DM Sans Bold"/>
                    <a:sym typeface="DM Sans Bold"/>
                  </a:rPr>
                  <a:t>OCCUPATION</a:t>
                </a:r>
              </a:p>
            </p:txBody>
          </p:sp>
          <p:sp>
            <p:nvSpPr>
              <p:cNvPr id="35" name="TextBox 35"/>
              <p:cNvSpPr txBox="1"/>
              <p:nvPr/>
            </p:nvSpPr>
            <p:spPr>
              <a:xfrm>
                <a:off x="1913150" y="2989695"/>
                <a:ext cx="1825622" cy="266314"/>
              </a:xfrm>
              <a:prstGeom prst="rect">
                <a:avLst/>
              </a:prstGeom>
            </p:spPr>
            <p:txBody>
              <a:bodyPr lIns="0" tIns="0" rIns="0" bIns="0" rtlCol="0" anchor="t">
                <a:spAutoFit/>
              </a:bodyPr>
              <a:lstStyle/>
              <a:p>
                <a:pPr algn="r">
                  <a:lnSpc>
                    <a:spcPts val="1504"/>
                  </a:lnSpc>
                  <a:spcBef>
                    <a:spcPct val="0"/>
                  </a:spcBef>
                </a:pPr>
                <a:r>
                  <a:rPr lang="en-US" sz="1253">
                    <a:solidFill>
                      <a:srgbClr val="191919"/>
                    </a:solidFill>
                    <a:latin typeface="DM Sans"/>
                    <a:ea typeface="DM Sans"/>
                    <a:cs typeface="DM Sans"/>
                    <a:sym typeface="DM Sans"/>
                  </a:rPr>
                  <a:t>34</a:t>
                </a:r>
              </a:p>
            </p:txBody>
          </p:sp>
          <p:sp>
            <p:nvSpPr>
              <p:cNvPr id="36" name="TextBox 36"/>
              <p:cNvSpPr txBox="1"/>
              <p:nvPr/>
            </p:nvSpPr>
            <p:spPr>
              <a:xfrm>
                <a:off x="1942432" y="5207485"/>
                <a:ext cx="1825622" cy="236724"/>
              </a:xfrm>
              <a:prstGeom prst="rect">
                <a:avLst/>
              </a:prstGeom>
            </p:spPr>
            <p:txBody>
              <a:bodyPr lIns="0" tIns="0" rIns="0" bIns="0" rtlCol="0" anchor="t">
                <a:spAutoFit/>
              </a:bodyPr>
              <a:lstStyle/>
              <a:p>
                <a:pPr algn="r">
                  <a:lnSpc>
                    <a:spcPts val="1373"/>
                  </a:lnSpc>
                  <a:spcBef>
                    <a:spcPct val="0"/>
                  </a:spcBef>
                </a:pPr>
                <a:r>
                  <a:rPr lang="en-US" sz="1144">
                    <a:solidFill>
                      <a:srgbClr val="191919"/>
                    </a:solidFill>
                    <a:latin typeface="DM Sans"/>
                    <a:ea typeface="DM Sans"/>
                    <a:cs typeface="DM Sans"/>
                    <a:sym typeface="DM Sans"/>
                  </a:rPr>
                  <a:t>Moderate</a:t>
                </a:r>
              </a:p>
            </p:txBody>
          </p:sp>
          <p:sp>
            <p:nvSpPr>
              <p:cNvPr id="37" name="TextBox 37"/>
              <p:cNvSpPr txBox="1"/>
              <p:nvPr/>
            </p:nvSpPr>
            <p:spPr>
              <a:xfrm>
                <a:off x="1913150" y="4387067"/>
                <a:ext cx="1825622" cy="266314"/>
              </a:xfrm>
              <a:prstGeom prst="rect">
                <a:avLst/>
              </a:prstGeom>
            </p:spPr>
            <p:txBody>
              <a:bodyPr lIns="0" tIns="0" rIns="0" bIns="0" rtlCol="0" anchor="t">
                <a:spAutoFit/>
              </a:bodyPr>
              <a:lstStyle/>
              <a:p>
                <a:pPr algn="r">
                  <a:lnSpc>
                    <a:spcPts val="1504"/>
                  </a:lnSpc>
                  <a:spcBef>
                    <a:spcPct val="0"/>
                  </a:spcBef>
                </a:pPr>
                <a:r>
                  <a:rPr lang="en-US" sz="1253">
                    <a:solidFill>
                      <a:srgbClr val="191919"/>
                    </a:solidFill>
                    <a:latin typeface="DM Sans"/>
                    <a:ea typeface="DM Sans"/>
                    <a:cs typeface="DM Sans"/>
                    <a:sym typeface="DM Sans"/>
                  </a:rPr>
                  <a:t>Leavenworth, WA</a:t>
                </a:r>
              </a:p>
            </p:txBody>
          </p:sp>
          <p:sp>
            <p:nvSpPr>
              <p:cNvPr id="38" name="TextBox 38"/>
              <p:cNvSpPr txBox="1"/>
              <p:nvPr/>
            </p:nvSpPr>
            <p:spPr>
              <a:xfrm>
                <a:off x="1734126" y="3662670"/>
                <a:ext cx="2033928" cy="236724"/>
              </a:xfrm>
              <a:prstGeom prst="rect">
                <a:avLst/>
              </a:prstGeom>
            </p:spPr>
            <p:txBody>
              <a:bodyPr lIns="0" tIns="0" rIns="0" bIns="0" rtlCol="0" anchor="t">
                <a:spAutoFit/>
              </a:bodyPr>
              <a:lstStyle/>
              <a:p>
                <a:pPr algn="r">
                  <a:lnSpc>
                    <a:spcPts val="1373"/>
                  </a:lnSpc>
                  <a:spcBef>
                    <a:spcPct val="0"/>
                  </a:spcBef>
                </a:pPr>
                <a:r>
                  <a:rPr lang="en-US" sz="1144">
                    <a:solidFill>
                      <a:srgbClr val="191919"/>
                    </a:solidFill>
                    <a:latin typeface="DM Sans"/>
                    <a:ea typeface="DM Sans"/>
                    <a:cs typeface="DM Sans"/>
                    <a:sym typeface="DM Sans"/>
                  </a:rPr>
                  <a:t>Pizzeria Owner</a:t>
                </a:r>
              </a:p>
            </p:txBody>
          </p:sp>
        </p:grpSp>
        <p:grpSp>
          <p:nvGrpSpPr>
            <p:cNvPr id="39" name="Group 39"/>
            <p:cNvGrpSpPr/>
            <p:nvPr/>
          </p:nvGrpSpPr>
          <p:grpSpPr>
            <a:xfrm>
              <a:off x="4876540" y="3829361"/>
              <a:ext cx="2463218" cy="2865588"/>
              <a:chOff x="-1" y="-195200"/>
              <a:chExt cx="3503242" cy="4075503"/>
            </a:xfrm>
          </p:grpSpPr>
          <p:grpSp>
            <p:nvGrpSpPr>
              <p:cNvPr id="40" name="Group 40"/>
              <p:cNvGrpSpPr/>
              <p:nvPr/>
            </p:nvGrpSpPr>
            <p:grpSpPr>
              <a:xfrm>
                <a:off x="0" y="-195200"/>
                <a:ext cx="3503241" cy="4075503"/>
                <a:chOff x="0" y="-56988"/>
                <a:chExt cx="1022760" cy="1189830"/>
              </a:xfrm>
            </p:grpSpPr>
            <p:sp>
              <p:nvSpPr>
                <p:cNvPr id="41" name="Freeform 41"/>
                <p:cNvSpPr/>
                <p:nvPr/>
              </p:nvSpPr>
              <p:spPr>
                <a:xfrm>
                  <a:off x="0" y="-56988"/>
                  <a:ext cx="1022760" cy="1189830"/>
                </a:xfrm>
                <a:custGeom>
                  <a:avLst/>
                  <a:gdLst/>
                  <a:ahLst/>
                  <a:cxnLst/>
                  <a:rect l="l" t="t" r="r" b="b"/>
                  <a:pathLst>
                    <a:path w="1022760" h="1120623">
                      <a:moveTo>
                        <a:pt x="48447" y="0"/>
                      </a:moveTo>
                      <a:lnTo>
                        <a:pt x="974312" y="0"/>
                      </a:lnTo>
                      <a:cubicBezTo>
                        <a:pt x="987161" y="0"/>
                        <a:pt x="999484" y="5104"/>
                        <a:pt x="1008570" y="14190"/>
                      </a:cubicBezTo>
                      <a:cubicBezTo>
                        <a:pt x="1017655" y="23276"/>
                        <a:pt x="1022760" y="35598"/>
                        <a:pt x="1022760" y="48447"/>
                      </a:cubicBezTo>
                      <a:lnTo>
                        <a:pt x="1022760" y="1072175"/>
                      </a:lnTo>
                      <a:cubicBezTo>
                        <a:pt x="1022760" y="1085024"/>
                        <a:pt x="1017655" y="1097347"/>
                        <a:pt x="1008570" y="1106433"/>
                      </a:cubicBezTo>
                      <a:cubicBezTo>
                        <a:pt x="999484" y="1115519"/>
                        <a:pt x="987161" y="1120623"/>
                        <a:pt x="974312" y="1120623"/>
                      </a:cubicBezTo>
                      <a:lnTo>
                        <a:pt x="48447" y="1120623"/>
                      </a:lnTo>
                      <a:cubicBezTo>
                        <a:pt x="35598" y="1120623"/>
                        <a:pt x="23276" y="1115519"/>
                        <a:pt x="14190" y="1106433"/>
                      </a:cubicBezTo>
                      <a:cubicBezTo>
                        <a:pt x="5104" y="1097347"/>
                        <a:pt x="0" y="1085024"/>
                        <a:pt x="0" y="1072175"/>
                      </a:cubicBezTo>
                      <a:lnTo>
                        <a:pt x="0" y="48447"/>
                      </a:lnTo>
                      <a:cubicBezTo>
                        <a:pt x="0" y="35598"/>
                        <a:pt x="5104" y="23276"/>
                        <a:pt x="14190" y="14190"/>
                      </a:cubicBezTo>
                      <a:cubicBezTo>
                        <a:pt x="23276" y="5104"/>
                        <a:pt x="35598" y="0"/>
                        <a:pt x="48447" y="0"/>
                      </a:cubicBezTo>
                      <a:close/>
                    </a:path>
                  </a:pathLst>
                </a:custGeom>
                <a:solidFill>
                  <a:srgbClr val="FFFFFF">
                    <a:alpha val="60000"/>
                  </a:srgbClr>
                </a:solidFill>
              </p:spPr>
            </p:sp>
            <p:sp>
              <p:nvSpPr>
                <p:cNvPr id="42" name="TextBox 42"/>
                <p:cNvSpPr txBox="1"/>
                <p:nvPr/>
              </p:nvSpPr>
              <p:spPr>
                <a:xfrm>
                  <a:off x="0" y="-9525"/>
                  <a:ext cx="1022760" cy="1130148"/>
                </a:xfrm>
                <a:prstGeom prst="rect">
                  <a:avLst/>
                </a:prstGeom>
              </p:spPr>
              <p:txBody>
                <a:bodyPr lIns="47625" tIns="47625" rIns="47625" bIns="47625" rtlCol="0" anchor="ctr"/>
                <a:lstStyle/>
                <a:p>
                  <a:pPr algn="ctr">
                    <a:lnSpc>
                      <a:spcPts val="1349"/>
                    </a:lnSpc>
                  </a:pPr>
                  <a:endParaRPr sz="1688"/>
                </a:p>
              </p:txBody>
            </p:sp>
          </p:grpSp>
          <p:sp>
            <p:nvSpPr>
              <p:cNvPr id="43" name="TextBox 43"/>
              <p:cNvSpPr txBox="1"/>
              <p:nvPr/>
            </p:nvSpPr>
            <p:spPr>
              <a:xfrm>
                <a:off x="299840" y="-47261"/>
                <a:ext cx="2831885" cy="459178"/>
              </a:xfrm>
              <a:prstGeom prst="rect">
                <a:avLst/>
              </a:prstGeom>
            </p:spPr>
            <p:txBody>
              <a:bodyPr lIns="0" tIns="0" rIns="0" bIns="0" rtlCol="0" anchor="t">
                <a:spAutoFit/>
              </a:bodyPr>
              <a:lstStyle/>
              <a:p>
                <a:pPr algn="l">
                  <a:lnSpc>
                    <a:spcPts val="1292"/>
                  </a:lnSpc>
                  <a:spcBef>
                    <a:spcPct val="0"/>
                  </a:spcBef>
                </a:pPr>
                <a:r>
                  <a:rPr lang="en-US" sz="1076" b="1">
                    <a:solidFill>
                      <a:srgbClr val="191919"/>
                    </a:solidFill>
                    <a:latin typeface="DM Sans Bold"/>
                    <a:ea typeface="DM Sans Bold"/>
                    <a:cs typeface="DM Sans Bold"/>
                    <a:sym typeface="DM Sans Bold"/>
                  </a:rPr>
                  <a:t>WHAT PROBLEM DOES THE APP SOLVE?</a:t>
                </a:r>
              </a:p>
            </p:txBody>
          </p:sp>
          <p:sp>
            <p:nvSpPr>
              <p:cNvPr id="44" name="TextBox 44"/>
              <p:cNvSpPr txBox="1"/>
              <p:nvPr/>
            </p:nvSpPr>
            <p:spPr>
              <a:xfrm>
                <a:off x="172649" y="490785"/>
                <a:ext cx="3152160" cy="2901365"/>
              </a:xfrm>
              <a:prstGeom prst="rect">
                <a:avLst/>
              </a:prstGeom>
            </p:spPr>
            <p:txBody>
              <a:bodyPr wrap="square" lIns="0" tIns="0" rIns="0" bIns="0" rtlCol="0" anchor="t">
                <a:spAutoFit/>
              </a:bodyPr>
              <a:lstStyle/>
              <a:p>
                <a:pPr marL="208280" lvl="1" indent="-104140" algn="l">
                  <a:lnSpc>
                    <a:spcPts val="1161"/>
                  </a:lnSpc>
                  <a:buFont typeface="Arial"/>
                  <a:buChar char="•"/>
                </a:pPr>
                <a:r>
                  <a:rPr lang="en-US" sz="968">
                    <a:solidFill>
                      <a:srgbClr val="191919"/>
                    </a:solidFill>
                    <a:latin typeface="DM Sans"/>
                    <a:ea typeface="DM Sans"/>
                    <a:cs typeface="DM Sans"/>
                    <a:sym typeface="DM Sans"/>
                  </a:rPr>
                  <a:t>Gives her real-time visibility into current inventory levels</a:t>
                </a:r>
                <a:endParaRPr lang="en-US"/>
              </a:p>
              <a:p>
                <a:pPr algn="l">
                  <a:lnSpc>
                    <a:spcPts val="1161"/>
                  </a:lnSpc>
                </a:pPr>
                <a:endParaRPr lang="en-US" sz="968">
                  <a:solidFill>
                    <a:srgbClr val="191919"/>
                  </a:solidFill>
                  <a:latin typeface="DM Sans"/>
                  <a:ea typeface="DM Sans"/>
                  <a:cs typeface="DM Sans"/>
                  <a:sym typeface="DM Sans"/>
                </a:endParaRPr>
              </a:p>
              <a:p>
                <a:pPr marL="208280" lvl="1" indent="-104140" algn="l">
                  <a:lnSpc>
                    <a:spcPts val="1161"/>
                  </a:lnSpc>
                  <a:buFont typeface="Arial"/>
                  <a:buChar char="•"/>
                </a:pPr>
                <a:r>
                  <a:rPr lang="en-US" sz="968">
                    <a:solidFill>
                      <a:srgbClr val="191919"/>
                    </a:solidFill>
                    <a:latin typeface="DM Sans"/>
                    <a:ea typeface="DM Sans"/>
                    <a:cs typeface="DM Sans"/>
                    <a:sym typeface="DM Sans"/>
                  </a:rPr>
                  <a:t>Sends low-stock alerts before she runs out of ingredients</a:t>
                </a:r>
                <a:endParaRPr lang="en-US" sz="968">
                  <a:solidFill>
                    <a:srgbClr val="191919"/>
                  </a:solidFill>
                  <a:latin typeface="DM Sans"/>
                  <a:ea typeface="DM Sans"/>
                  <a:cs typeface="DM Sans"/>
                </a:endParaRPr>
              </a:p>
              <a:p>
                <a:pPr algn="l">
                  <a:lnSpc>
                    <a:spcPts val="1161"/>
                  </a:lnSpc>
                </a:pPr>
                <a:endParaRPr lang="en-US" sz="968">
                  <a:solidFill>
                    <a:srgbClr val="191919"/>
                  </a:solidFill>
                  <a:latin typeface="DM Sans"/>
                  <a:ea typeface="DM Sans"/>
                  <a:cs typeface="DM Sans"/>
                  <a:sym typeface="DM Sans"/>
                </a:endParaRPr>
              </a:p>
              <a:p>
                <a:pPr marL="208280" lvl="1" indent="-104140" algn="l">
                  <a:lnSpc>
                    <a:spcPts val="1161"/>
                  </a:lnSpc>
                  <a:buFont typeface="Arial"/>
                  <a:buChar char="•"/>
                </a:pPr>
                <a:r>
                  <a:rPr lang="en-US" sz="968">
                    <a:solidFill>
                      <a:srgbClr val="191919"/>
                    </a:solidFill>
                    <a:latin typeface="DM Sans"/>
                    <a:ea typeface="DM Sans"/>
                    <a:cs typeface="DM Sans"/>
                    <a:sym typeface="DM Sans"/>
                  </a:rPr>
                  <a:t>Tracks sales patterns so she can plan orders with confidence</a:t>
                </a:r>
                <a:endParaRPr lang="en-US" sz="968">
                  <a:solidFill>
                    <a:srgbClr val="191919"/>
                  </a:solidFill>
                  <a:latin typeface="DM Sans"/>
                  <a:ea typeface="DM Sans"/>
                  <a:cs typeface="DM Sans"/>
                </a:endParaRPr>
              </a:p>
              <a:p>
                <a:pPr algn="l">
                  <a:lnSpc>
                    <a:spcPts val="1161"/>
                  </a:lnSpc>
                </a:pPr>
                <a:endParaRPr lang="en-US" sz="968">
                  <a:solidFill>
                    <a:srgbClr val="191919"/>
                  </a:solidFill>
                  <a:latin typeface="DM Sans"/>
                  <a:ea typeface="DM Sans"/>
                  <a:cs typeface="DM Sans"/>
                  <a:sym typeface="DM Sans"/>
                </a:endParaRPr>
              </a:p>
              <a:p>
                <a:pPr marL="208280" lvl="1" indent="-104140" algn="l">
                  <a:lnSpc>
                    <a:spcPts val="1161"/>
                  </a:lnSpc>
                  <a:buFont typeface="Arial"/>
                  <a:buChar char="•"/>
                </a:pPr>
                <a:r>
                  <a:rPr lang="en-US" sz="968">
                    <a:solidFill>
                      <a:srgbClr val="191919"/>
                    </a:solidFill>
                    <a:latin typeface="DM Sans"/>
                    <a:ea typeface="DM Sans"/>
                    <a:cs typeface="DM Sans"/>
                    <a:sym typeface="DM Sans"/>
                  </a:rPr>
                  <a:t>Recommends when and how much to reorder</a:t>
                </a:r>
                <a:endParaRPr lang="en-US" sz="968">
                  <a:solidFill>
                    <a:srgbClr val="191919"/>
                  </a:solidFill>
                  <a:latin typeface="DM Sans"/>
                  <a:ea typeface="DM Sans"/>
                  <a:cs typeface="DM Sans"/>
                </a:endParaRPr>
              </a:p>
              <a:p>
                <a:pPr algn="l">
                  <a:lnSpc>
                    <a:spcPts val="1161"/>
                  </a:lnSpc>
                </a:pPr>
                <a:endParaRPr lang="en-US" sz="968">
                  <a:solidFill>
                    <a:srgbClr val="191919"/>
                  </a:solidFill>
                  <a:latin typeface="DM Sans"/>
                  <a:ea typeface="DM Sans"/>
                  <a:cs typeface="DM Sans"/>
                  <a:sym typeface="DM Sans"/>
                </a:endParaRPr>
              </a:p>
              <a:p>
                <a:pPr marL="208280" lvl="1" indent="-104140" algn="l">
                  <a:lnSpc>
                    <a:spcPts val="1161"/>
                  </a:lnSpc>
                  <a:spcBef>
                    <a:spcPct val="0"/>
                  </a:spcBef>
                  <a:buFont typeface="Arial"/>
                  <a:buChar char="•"/>
                </a:pPr>
                <a:r>
                  <a:rPr lang="en-US" sz="968">
                    <a:solidFill>
                      <a:srgbClr val="191919"/>
                    </a:solidFill>
                    <a:latin typeface="DM Sans"/>
                    <a:ea typeface="DM Sans"/>
                    <a:cs typeface="DM Sans"/>
                    <a:sym typeface="DM Sans"/>
                  </a:rPr>
                  <a:t>Automatically updates inventory whenever a sale is made</a:t>
                </a:r>
                <a:endParaRPr lang="en-US" sz="968">
                  <a:solidFill>
                    <a:srgbClr val="191919"/>
                  </a:solidFill>
                  <a:latin typeface="DM Sans"/>
                  <a:ea typeface="DM Sans"/>
                  <a:cs typeface="DM Sans"/>
                </a:endParaRPr>
              </a:p>
            </p:txBody>
          </p:sp>
          <p:sp>
            <p:nvSpPr>
              <p:cNvPr id="47" name="TextBox 47"/>
              <p:cNvSpPr txBox="1"/>
              <p:nvPr/>
            </p:nvSpPr>
            <p:spPr>
              <a:xfrm>
                <a:off x="-1" y="-32627"/>
                <a:ext cx="3503242" cy="3745076"/>
              </a:xfrm>
              <a:prstGeom prst="rect">
                <a:avLst/>
              </a:prstGeom>
            </p:spPr>
            <p:txBody>
              <a:bodyPr lIns="47625" tIns="47625" rIns="47625" bIns="47625" rtlCol="0" anchor="ctr"/>
              <a:lstStyle/>
              <a:p>
                <a:pPr algn="ctr">
                  <a:lnSpc>
                    <a:spcPts val="1349"/>
                  </a:lnSpc>
                </a:pPr>
                <a:endParaRPr sz="1688"/>
              </a:p>
            </p:txBody>
          </p:sp>
        </p:grpSp>
        <p:sp>
          <p:nvSpPr>
            <p:cNvPr id="50" name="TextBox 50"/>
            <p:cNvSpPr txBox="1"/>
            <p:nvPr/>
          </p:nvSpPr>
          <p:spPr>
            <a:xfrm>
              <a:off x="4919901" y="622568"/>
              <a:ext cx="2058749" cy="201530"/>
            </a:xfrm>
            <a:prstGeom prst="rect">
              <a:avLst/>
            </a:prstGeom>
          </p:spPr>
          <p:txBody>
            <a:bodyPr wrap="square" lIns="0" tIns="0" rIns="0" bIns="0" rtlCol="0" anchor="t">
              <a:spAutoFit/>
            </a:bodyPr>
            <a:lstStyle/>
            <a:p>
              <a:pPr algn="l">
                <a:lnSpc>
                  <a:spcPts val="1561"/>
                </a:lnSpc>
                <a:spcBef>
                  <a:spcPct val="0"/>
                </a:spcBef>
              </a:pPr>
              <a:r>
                <a:rPr lang="en-US" sz="1300" b="1">
                  <a:solidFill>
                    <a:srgbClr val="191919"/>
                  </a:solidFill>
                  <a:latin typeface="DM Sans Bold"/>
                  <a:ea typeface="DM Sans Bold"/>
                  <a:cs typeface="DM Sans Bold"/>
                  <a:sym typeface="DM Sans Bold"/>
                </a:rPr>
                <a:t>BIO</a:t>
              </a:r>
            </a:p>
          </p:txBody>
        </p:sp>
        <p:sp>
          <p:nvSpPr>
            <p:cNvPr id="51" name="TextBox 51"/>
            <p:cNvSpPr txBox="1"/>
            <p:nvPr/>
          </p:nvSpPr>
          <p:spPr>
            <a:xfrm>
              <a:off x="4905781" y="774372"/>
              <a:ext cx="4975883" cy="1044260"/>
            </a:xfrm>
            <a:prstGeom prst="rect">
              <a:avLst/>
            </a:prstGeom>
          </p:spPr>
          <p:txBody>
            <a:bodyPr wrap="square" lIns="0" tIns="0" rIns="0" bIns="0" rtlCol="0" anchor="t">
              <a:spAutoFit/>
            </a:bodyPr>
            <a:lstStyle/>
            <a:p>
              <a:pPr algn="just">
                <a:lnSpc>
                  <a:spcPts val="2146"/>
                </a:lnSpc>
              </a:pPr>
              <a:r>
                <a:rPr lang="en-US" sz="937">
                  <a:solidFill>
                    <a:srgbClr val="191919"/>
                  </a:solidFill>
                  <a:latin typeface="DM Sans"/>
                  <a:ea typeface="DM Sans"/>
                  <a:cs typeface="DM Sans"/>
                  <a:sym typeface="DM Sans"/>
                </a:rPr>
                <a:t>David owns and manages a busy local pizzeria in Leavenworth. He handles inventory, supplier orders, staff, and daily sales. Because he tracks stock manually, he often runs out of ingredients or overorders, which costs time and money. He prefers simple, fast tools that help him make smarter purchasing decisions without interrupting his workflow.</a:t>
              </a:r>
            </a:p>
          </p:txBody>
        </p:sp>
      </p:grpSp>
      <p:sp>
        <p:nvSpPr>
          <p:cNvPr id="53" name="TextBox 52">
            <a:extLst>
              <a:ext uri="{FF2B5EF4-FFF2-40B4-BE49-F238E27FC236}">
                <a16:creationId xmlns:a16="http://schemas.microsoft.com/office/drawing/2014/main" id="{0C87D35E-B602-3FDE-5CEA-70977E0D05CB}"/>
              </a:ext>
            </a:extLst>
          </p:cNvPr>
          <p:cNvSpPr txBox="1"/>
          <p:nvPr/>
        </p:nvSpPr>
        <p:spPr>
          <a:xfrm>
            <a:off x="618227" y="445697"/>
            <a:ext cx="186905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a:t>Persona</a:t>
            </a:r>
          </a:p>
        </p:txBody>
      </p:sp>
    </p:spTree>
    <p:extLst>
      <p:ext uri="{BB962C8B-B14F-4D97-AF65-F5344CB8AC3E}">
        <p14:creationId xmlns:p14="http://schemas.microsoft.com/office/powerpoint/2010/main" val="3427591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DCC0C-2855-5DCA-A759-882ADC452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E3F16-6D33-2CEB-0559-D2841CA3AFF0}"/>
              </a:ext>
            </a:extLst>
          </p:cNvPr>
          <p:cNvSpPr>
            <a:spLocks noGrp="1"/>
          </p:cNvSpPr>
          <p:nvPr>
            <p:ph type="title"/>
          </p:nvPr>
        </p:nvSpPr>
        <p:spPr>
          <a:xfrm>
            <a:off x="912628" y="1463038"/>
            <a:ext cx="3859397" cy="1471548"/>
          </a:xfrm>
        </p:spPr>
        <p:txBody>
          <a:bodyPr anchor="t">
            <a:normAutofit fontScale="90000"/>
          </a:bodyPr>
          <a:lstStyle/>
          <a:p>
            <a:r>
              <a:rPr lang="en-US"/>
              <a:t>Iconography, Color Palette &amp; Typography </a:t>
            </a:r>
          </a:p>
        </p:txBody>
      </p:sp>
      <p:pic>
        <p:nvPicPr>
          <p:cNvPr id="4" name="Content Placeholder 3" descr="A screenshot of a computer&#10;&#10;AI-generated content may be incorrect.">
            <a:extLst>
              <a:ext uri="{FF2B5EF4-FFF2-40B4-BE49-F238E27FC236}">
                <a16:creationId xmlns:a16="http://schemas.microsoft.com/office/drawing/2014/main" id="{5FD8D759-18B1-6D36-4010-F446E66DC59C}"/>
              </a:ext>
            </a:extLst>
          </p:cNvPr>
          <p:cNvPicPr>
            <a:picLocks noGrp="1" noChangeAspect="1"/>
          </p:cNvPicPr>
          <p:nvPr>
            <p:ph type="pic" idx="1"/>
          </p:nvPr>
        </p:nvPicPr>
        <p:blipFill>
          <a:blip r:embed="rId2"/>
          <a:stretch/>
        </p:blipFill>
        <p:spPr>
          <a:xfrm>
            <a:off x="6082248" y="987425"/>
            <a:ext cx="4374079" cy="4873625"/>
          </a:xfrm>
          <a:prstGeom prst="rect">
            <a:avLst/>
          </a:prstGeom>
          <a:noFill/>
        </p:spPr>
      </p:pic>
      <p:sp>
        <p:nvSpPr>
          <p:cNvPr id="11" name="Date Placeholder 4">
            <a:extLst>
              <a:ext uri="{FF2B5EF4-FFF2-40B4-BE49-F238E27FC236}">
                <a16:creationId xmlns:a16="http://schemas.microsoft.com/office/drawing/2014/main" id="{A027F3EB-10E9-2B78-BBE2-7D55080FA3C9}"/>
              </a:ext>
            </a:extLst>
          </p:cNvPr>
          <p:cNvSpPr>
            <a:spLocks noGrp="1"/>
          </p:cNvSpPr>
          <p:nvPr>
            <p:ph type="dt" sz="half" idx="10"/>
          </p:nvPr>
        </p:nvSpPr>
        <p:spPr>
          <a:xfrm>
            <a:off x="912628" y="6356350"/>
            <a:ext cx="2743200" cy="365125"/>
          </a:xfrm>
        </p:spPr>
        <p:txBody>
          <a:bodyPr/>
          <a:lstStyle/>
          <a:p>
            <a:pPr>
              <a:spcAft>
                <a:spcPts val="600"/>
              </a:spcAft>
            </a:pPr>
            <a:fld id="{9DCA7BCE-38CD-4693-8190-5AA086DF5349}" type="datetime1">
              <a:pPr>
                <a:spcAft>
                  <a:spcPts val="600"/>
                </a:spcAft>
              </a:pPr>
              <a:t>2/24/2026</a:t>
            </a:fld>
            <a:endParaRPr lang="en-US"/>
          </a:p>
        </p:txBody>
      </p:sp>
      <p:sp>
        <p:nvSpPr>
          <p:cNvPr id="13" name="Footer Placeholder 5">
            <a:extLst>
              <a:ext uri="{FF2B5EF4-FFF2-40B4-BE49-F238E27FC236}">
                <a16:creationId xmlns:a16="http://schemas.microsoft.com/office/drawing/2014/main" id="{03037BFB-35B3-5DCA-47E7-60978559B1CA}"/>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5" name="Slide Number Placeholder 6">
            <a:extLst>
              <a:ext uri="{FF2B5EF4-FFF2-40B4-BE49-F238E27FC236}">
                <a16:creationId xmlns:a16="http://schemas.microsoft.com/office/drawing/2014/main" id="{1D538BB8-F116-9BE3-99C1-900FFB4ED429}"/>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3</a:t>
            </a:fld>
            <a:endParaRPr lang="en-US"/>
          </a:p>
        </p:txBody>
      </p:sp>
      <p:sp>
        <p:nvSpPr>
          <p:cNvPr id="6" name="TextBox 5">
            <a:extLst>
              <a:ext uri="{FF2B5EF4-FFF2-40B4-BE49-F238E27FC236}">
                <a16:creationId xmlns:a16="http://schemas.microsoft.com/office/drawing/2014/main" id="{0BABD6F3-48B9-C4CA-5EA5-1FA5C493207C}"/>
              </a:ext>
            </a:extLst>
          </p:cNvPr>
          <p:cNvSpPr txBox="1"/>
          <p:nvPr/>
        </p:nvSpPr>
        <p:spPr>
          <a:xfrm>
            <a:off x="230038" y="3429000"/>
            <a:ext cx="6096000"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ptos"/>
                <a:ea typeface="Aptos"/>
                <a:cs typeface="Aptos"/>
              </a:rPr>
              <a:t>Heading: </a:t>
            </a:r>
            <a:r>
              <a:rPr lang="en-US" sz="2800" err="1">
                <a:latin typeface="Montserrat"/>
                <a:ea typeface="Montserrat"/>
                <a:cs typeface="Montserrat"/>
              </a:rPr>
              <a:t>StockPilot</a:t>
            </a:r>
            <a:r>
              <a:rPr lang="en-US" sz="2800">
                <a:latin typeface="Montserrat"/>
                <a:ea typeface="Montserrat"/>
                <a:cs typeface="Montserrat"/>
              </a:rPr>
              <a:t> (Montserrat)</a:t>
            </a:r>
            <a:br>
              <a:rPr lang="en-US" sz="2800">
                <a:latin typeface="Aptos"/>
                <a:ea typeface="Aptos"/>
                <a:cs typeface="Aptos"/>
              </a:rPr>
            </a:br>
            <a:r>
              <a:rPr lang="en-US" sz="2800">
                <a:latin typeface="Aptos"/>
                <a:ea typeface="Aptos"/>
                <a:cs typeface="Aptos"/>
              </a:rPr>
              <a:t>Body: </a:t>
            </a:r>
            <a:r>
              <a:rPr lang="en-US" sz="2800">
                <a:latin typeface="Open Sans"/>
                <a:ea typeface="Open Sans"/>
                <a:cs typeface="Open Sans"/>
              </a:rPr>
              <a:t>Home (Open Sans)</a:t>
            </a:r>
            <a:r>
              <a:rPr lang="en-US" sz="4000"/>
              <a:t> </a:t>
            </a:r>
          </a:p>
          <a:p>
            <a:pPr algn="ctr"/>
            <a:endParaRPr lang="en-US"/>
          </a:p>
        </p:txBody>
      </p:sp>
    </p:spTree>
    <p:extLst>
      <p:ext uri="{BB962C8B-B14F-4D97-AF65-F5344CB8AC3E}">
        <p14:creationId xmlns:p14="http://schemas.microsoft.com/office/powerpoint/2010/main" val="386731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38427-736A-737D-A1D8-D0616BBD1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6A0C3-7175-4CB9-F053-E56981CB095A}"/>
              </a:ext>
            </a:extLst>
          </p:cNvPr>
          <p:cNvSpPr>
            <a:spLocks noGrp="1"/>
          </p:cNvSpPr>
          <p:nvPr>
            <p:ph type="title"/>
          </p:nvPr>
        </p:nvSpPr>
        <p:spPr>
          <a:xfrm>
            <a:off x="709411" y="224"/>
            <a:ext cx="10515600" cy="1325563"/>
          </a:xfrm>
        </p:spPr>
        <p:txBody>
          <a:bodyPr/>
          <a:lstStyle/>
          <a:p>
            <a:pPr algn="ctr"/>
            <a:r>
              <a:rPr lang="en-US"/>
              <a:t>Mood board </a:t>
            </a:r>
          </a:p>
        </p:txBody>
      </p:sp>
      <p:pic>
        <p:nvPicPr>
          <p:cNvPr id="4" name="Content Placeholder 3" descr="A group of different devices&#10;&#10;AI-generated content may be incorrect.">
            <a:extLst>
              <a:ext uri="{FF2B5EF4-FFF2-40B4-BE49-F238E27FC236}">
                <a16:creationId xmlns:a16="http://schemas.microsoft.com/office/drawing/2014/main" id="{39D21F25-7492-45DF-F59C-FE4FE1DE3C89}"/>
              </a:ext>
            </a:extLst>
          </p:cNvPr>
          <p:cNvPicPr>
            <a:picLocks noGrp="1" noChangeAspect="1"/>
          </p:cNvPicPr>
          <p:nvPr>
            <p:ph idx="1"/>
          </p:nvPr>
        </p:nvPicPr>
        <p:blipFill>
          <a:blip r:embed="rId2"/>
          <a:stretch>
            <a:fillRect/>
          </a:stretch>
        </p:blipFill>
        <p:spPr>
          <a:xfrm>
            <a:off x="1337097" y="1165158"/>
            <a:ext cx="9273391" cy="5429639"/>
          </a:xfrm>
          <a:prstGeom prst="rect">
            <a:avLst/>
          </a:prstGeom>
        </p:spPr>
      </p:pic>
    </p:spTree>
    <p:extLst>
      <p:ext uri="{BB962C8B-B14F-4D97-AF65-F5344CB8AC3E}">
        <p14:creationId xmlns:p14="http://schemas.microsoft.com/office/powerpoint/2010/main" val="3599200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82EB-D86F-ACBF-A294-A3B344ED2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2025DB-F3C5-3C48-68A8-31E509A2CD6C}"/>
              </a:ext>
            </a:extLst>
          </p:cNvPr>
          <p:cNvSpPr>
            <a:spLocks noGrp="1"/>
          </p:cNvSpPr>
          <p:nvPr>
            <p:ph type="title"/>
          </p:nvPr>
        </p:nvSpPr>
        <p:spPr>
          <a:xfrm>
            <a:off x="709411" y="224"/>
            <a:ext cx="10515600" cy="1325563"/>
          </a:xfrm>
        </p:spPr>
        <p:txBody>
          <a:bodyPr/>
          <a:lstStyle/>
          <a:p>
            <a:pPr algn="ctr"/>
            <a:r>
              <a:rPr lang="en-US"/>
              <a:t>Images</a:t>
            </a:r>
          </a:p>
        </p:txBody>
      </p:sp>
      <p:pic>
        <p:nvPicPr>
          <p:cNvPr id="3" name="Content Placeholder 2" descr="A screenshot of a video game&#10;&#10;AI-generated content may be incorrect.">
            <a:extLst>
              <a:ext uri="{FF2B5EF4-FFF2-40B4-BE49-F238E27FC236}">
                <a16:creationId xmlns:a16="http://schemas.microsoft.com/office/drawing/2014/main" id="{84ED6C1A-D9F7-CCEB-D101-4540C332D4E4}"/>
              </a:ext>
            </a:extLst>
          </p:cNvPr>
          <p:cNvPicPr>
            <a:picLocks noGrp="1" noChangeAspect="1"/>
          </p:cNvPicPr>
          <p:nvPr>
            <p:ph idx="1"/>
          </p:nvPr>
        </p:nvPicPr>
        <p:blipFill>
          <a:blip r:embed="rId2"/>
          <a:stretch>
            <a:fillRect/>
          </a:stretch>
        </p:blipFill>
        <p:spPr>
          <a:xfrm>
            <a:off x="1795530" y="1147597"/>
            <a:ext cx="8338607" cy="5543737"/>
          </a:xfrm>
          <a:prstGeom prst="rect">
            <a:avLst/>
          </a:prstGeom>
        </p:spPr>
      </p:pic>
      <p:sp>
        <p:nvSpPr>
          <p:cNvPr id="7" name="TextBox 6">
            <a:extLst>
              <a:ext uri="{FF2B5EF4-FFF2-40B4-BE49-F238E27FC236}">
                <a16:creationId xmlns:a16="http://schemas.microsoft.com/office/drawing/2014/main" id="{F2C3ECEB-2A74-A77C-ED52-D79CB729D1AF}"/>
              </a:ext>
            </a:extLst>
          </p:cNvPr>
          <p:cNvSpPr txBox="1"/>
          <p:nvPr/>
        </p:nvSpPr>
        <p:spPr>
          <a:xfrm>
            <a:off x="9475600" y="6686634"/>
            <a:ext cx="165561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a:t>Generated by A.I</a:t>
            </a:r>
          </a:p>
        </p:txBody>
      </p:sp>
    </p:spTree>
    <p:extLst>
      <p:ext uri="{BB962C8B-B14F-4D97-AF65-F5344CB8AC3E}">
        <p14:creationId xmlns:p14="http://schemas.microsoft.com/office/powerpoint/2010/main" val="3351346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E5919-3A7B-DABC-863C-81930035FC54}"/>
              </a:ext>
            </a:extLst>
          </p:cNvPr>
          <p:cNvSpPr>
            <a:spLocks noGrp="1"/>
          </p:cNvSpPr>
          <p:nvPr>
            <p:ph type="title"/>
          </p:nvPr>
        </p:nvSpPr>
        <p:spPr>
          <a:xfrm>
            <a:off x="912629" y="1709738"/>
            <a:ext cx="9214884" cy="3159974"/>
          </a:xfrm>
        </p:spPr>
        <p:txBody>
          <a:bodyPr anchor="b">
            <a:normAutofit/>
          </a:bodyPr>
          <a:lstStyle/>
          <a:p>
            <a:r>
              <a:rPr lang="en-US" sz="5400"/>
              <a:t>Thank you!</a:t>
            </a:r>
          </a:p>
        </p:txBody>
      </p:sp>
      <p:sp>
        <p:nvSpPr>
          <p:cNvPr id="3" name="Content Placeholder 2">
            <a:extLst>
              <a:ext uri="{FF2B5EF4-FFF2-40B4-BE49-F238E27FC236}">
                <a16:creationId xmlns:a16="http://schemas.microsoft.com/office/drawing/2014/main" id="{1F4C4DC8-B900-4612-7F23-0108EAA21494}"/>
              </a:ext>
            </a:extLst>
          </p:cNvPr>
          <p:cNvSpPr>
            <a:spLocks noGrp="1"/>
          </p:cNvSpPr>
          <p:nvPr>
            <p:ph type="body" idx="1"/>
          </p:nvPr>
        </p:nvSpPr>
        <p:spPr>
          <a:xfrm>
            <a:off x="912628" y="5018567"/>
            <a:ext cx="7907079" cy="1073889"/>
          </a:xfrm>
        </p:spPr>
        <p:txBody>
          <a:bodyPr vert="horz" lIns="91440" tIns="45720" rIns="91440" bIns="45720" rtlCol="0">
            <a:normAutofit/>
          </a:bodyPr>
          <a:lstStyle/>
          <a:p>
            <a:r>
              <a:rPr lang="en-US"/>
              <a:t>Questions </a:t>
            </a:r>
          </a:p>
        </p:txBody>
      </p:sp>
      <p:sp>
        <p:nvSpPr>
          <p:cNvPr id="4" name="Date Placeholder 3">
            <a:extLst>
              <a:ext uri="{FF2B5EF4-FFF2-40B4-BE49-F238E27FC236}">
                <a16:creationId xmlns:a16="http://schemas.microsoft.com/office/drawing/2014/main" id="{E7FAE0AB-F179-2901-AB3E-3AA8F2E8A215}"/>
              </a:ext>
            </a:extLst>
          </p:cNvPr>
          <p:cNvSpPr>
            <a:spLocks noGrp="1"/>
          </p:cNvSpPr>
          <p:nvPr>
            <p:ph type="dt" sz="half" idx="10"/>
          </p:nvPr>
        </p:nvSpPr>
        <p:spPr>
          <a:xfrm>
            <a:off x="912628" y="6356350"/>
            <a:ext cx="2743200" cy="365125"/>
          </a:xfrm>
        </p:spPr>
        <p:txBody>
          <a:bodyPr anchor="ctr">
            <a:normAutofit/>
          </a:bodyPr>
          <a:lstStyle/>
          <a:p>
            <a:pPr>
              <a:spcAft>
                <a:spcPts val="600"/>
              </a:spcAft>
            </a:pPr>
            <a:fld id="{2C20C013-088E-4C44-AE68-CE0AC84CCA07}" type="datetime1">
              <a:pPr>
                <a:spcAft>
                  <a:spcPts val="600"/>
                </a:spcAft>
              </a:pPr>
              <a:t>2/24/2026</a:t>
            </a:fld>
            <a:endParaRPr lang="en-US"/>
          </a:p>
        </p:txBody>
      </p:sp>
      <p:sp>
        <p:nvSpPr>
          <p:cNvPr id="5" name="Footer Placeholder 4">
            <a:extLst>
              <a:ext uri="{FF2B5EF4-FFF2-40B4-BE49-F238E27FC236}">
                <a16:creationId xmlns:a16="http://schemas.microsoft.com/office/drawing/2014/main" id="{D8EB4C0C-7B65-C7D4-814B-16D647CD8F19}"/>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1E892078-FE0B-B6C5-0BDB-D14FCD2296FB}"/>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6</a:t>
            </a:fld>
            <a:endParaRPr lang="en-US"/>
          </a:p>
        </p:txBody>
      </p:sp>
      <p:pic>
        <p:nvPicPr>
          <p:cNvPr id="8" name="Graphic 7" descr="Questions with solid fill">
            <a:extLst>
              <a:ext uri="{FF2B5EF4-FFF2-40B4-BE49-F238E27FC236}">
                <a16:creationId xmlns:a16="http://schemas.microsoft.com/office/drawing/2014/main" id="{184F64A2-CF4B-AFE2-DBD8-B987A6779E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95920" y="1701800"/>
            <a:ext cx="3169920" cy="3149600"/>
          </a:xfrm>
          <a:prstGeom prst="rect">
            <a:avLst/>
          </a:prstGeom>
        </p:spPr>
      </p:pic>
    </p:spTree>
    <p:extLst>
      <p:ext uri="{BB962C8B-B14F-4D97-AF65-F5344CB8AC3E}">
        <p14:creationId xmlns:p14="http://schemas.microsoft.com/office/powerpoint/2010/main" val="2209603074"/>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DashVTI</vt:lpstr>
      <vt:lpstr>Persona and Mood Board  Team Azure</vt:lpstr>
      <vt:lpstr>PowerPoint Presentation</vt:lpstr>
      <vt:lpstr>Iconography, Color Palette &amp; Typography </vt:lpstr>
      <vt:lpstr>Mood board </vt:lpstr>
      <vt:lpstr>Images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17</cp:revision>
  <dcterms:created xsi:type="dcterms:W3CDTF">2026-02-23T18:09:49Z</dcterms:created>
  <dcterms:modified xsi:type="dcterms:W3CDTF">2026-02-24T18:03:16Z</dcterms:modified>
</cp:coreProperties>
</file>